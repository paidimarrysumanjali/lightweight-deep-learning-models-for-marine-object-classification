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8" r:id="rId2"/>
    <p:sldId id="281" r:id="rId3"/>
    <p:sldId id="282" r:id="rId4"/>
    <p:sldId id="283" r:id="rId5"/>
    <p:sldId id="284" r:id="rId6"/>
    <p:sldId id="285" r:id="rId7"/>
    <p:sldId id="260" r:id="rId8"/>
    <p:sldId id="263" r:id="rId9"/>
    <p:sldId id="264" r:id="rId10"/>
    <p:sldId id="266" r:id="rId11"/>
    <p:sldId id="286" r:id="rId12"/>
    <p:sldId id="287" r:id="rId13"/>
    <p:sldId id="274" r:id="rId14"/>
    <p:sldId id="268" r:id="rId15"/>
    <p:sldId id="270" r:id="rId16"/>
    <p:sldId id="269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44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3A696-2018-4B54-8D57-D62B3EDC4AC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0379E-204B-4350-9EE6-C34D8A877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34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379E-204B-4350-9EE6-C34D8A87777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920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379E-204B-4350-9EE6-C34D8A87777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88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CD8A-04E7-4E4F-3E68-26C9A577B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4E3A8-96DF-C86B-F0CC-99245F6BC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4CEA6-2640-D563-0542-456D1F4A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E4F01-FA64-79FC-4C12-A20E73F9D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F529B-2768-1923-A8C8-2833704D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99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6511-4835-28BB-8FB1-1DD6BD62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E51DD-C9BD-9B3D-97A0-A73722B33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06DC5-6281-96BC-16C8-9BEEEAD6C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3607C-82E9-F6A2-D426-372ABE71F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C1B49-02B3-A834-D601-266742D7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60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49FC-8B41-3C0C-D01C-7A9FA31F1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C38DE-591F-6907-E4C4-58A7CDA4E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B360B-9E25-332A-C7E2-677B6E42E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F4F6C-5CF5-29C7-313F-EAAFF99D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8D0B3-18BF-D0BE-32F0-896B2636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32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68F1-DC7C-CE77-C184-995AD8FF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E3FD5-F3E7-0273-54D1-1FDB27C93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7CC2D-A791-4E3E-6D91-265B06E65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1F421-8435-A637-B198-2D094294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3A640-12F6-3740-16F2-1B06E3A9B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1EB24-ABDD-C787-FBC5-9B8F0EDC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2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E4DE-91D9-5517-62E5-30462C85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A2D6A-A6CD-6BF6-7749-BE784EA14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7968F-9661-6917-8767-7E1B8DA7E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27C62-0956-962D-8942-E8CFD3F8B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EB474-3DFE-B312-531E-483559529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B37560-F324-08C9-9B28-0521E534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75AF06-72BA-A248-08DA-8C6A58F1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9763A2-8B83-224D-5DCF-AAF24D7D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80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D6FD-FCC6-BF4C-8053-A9D96C6BA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CFD8D-E2CD-C985-4127-F090A37B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D0B87-C0C7-D3E4-B5BC-7407416A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AE6C1-AC65-15A8-57C1-332A8550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77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DB7E6-ECE6-C927-61E8-F9A1320F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5FF11-6D08-A33B-F6C4-DF5DFD6D9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0736E-025E-F21F-30EE-E68AFF7F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7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2009C-79B8-3901-F173-FACF38366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9137-42D1-A99D-771D-F2CF3C6FC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497CDD-A42A-27E6-F717-620283D67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D7D8A-4288-5326-E05C-9B711C1C0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4C066-CD7F-6665-180A-0FE9B2F2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5E3EF-2167-D527-B077-A885DEEE8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66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8102-324E-6552-AE3B-C661CC53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003D94-DFDA-C44E-FAD3-54ECE37FF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67DAB-C2FC-B47B-99EC-AC8292671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439C5-F92B-70B8-313D-BD3064D0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FBFF1-0783-6EE9-A3E6-DE536902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518B3-40CE-0D63-6B82-DD5D085E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84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A0F5-D7F6-1932-668B-1100BF4D7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01C26-426D-EFE8-DFD4-2E2592327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A3704-B40C-8953-2F78-457E1E51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7708F-3730-C19C-4C5D-5513006A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15C36-CF85-5D5F-E8C6-8993E307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61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C96D0-B120-58AB-35D3-ABBCE5144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19104-578D-05CB-A5EA-338CA6538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AD742-953E-057C-1C3A-49C16718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DD1B1-A0EB-1137-418B-3FFA65F2D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AB810-D3CC-1196-1777-18B39628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02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55CA69-AD9E-5AFB-1473-BF26D84A9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7FBE3-909F-B854-8B0F-4D20046E3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CF882-B15B-0171-5BBD-BEEE8D5DF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D28CB-B14E-474E-A44D-BB4E1366BDC5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6265D-84A0-9C90-5FE5-D0EB2C83D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DB8A6-160E-451D-9BEC-4757F0573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74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github.com/Paidimarrysumanjali/lightweight-deep-learning-models-for-marine-object-classificatio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B9766-5739-A011-944C-A3B2D1E2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724634-3FD5-E275-5B58-693C13E97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58768"/>
            <a:ext cx="9144000" cy="1399032"/>
          </a:xfrm>
        </p:spPr>
        <p:txBody>
          <a:bodyPr>
            <a:noAutofit/>
          </a:bodyPr>
          <a:lstStyle/>
          <a:p>
            <a:endParaRPr lang="en-GB" sz="3600" dirty="0"/>
          </a:p>
          <a:p>
            <a:endParaRPr lang="en-GB" sz="3600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9B8B568-C7BD-2F8A-2AFC-09DDFA2500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227" y="65151"/>
            <a:ext cx="5129530" cy="82580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84F4CED-48C5-5B98-A1B0-DCFB936BF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463" y="1229825"/>
            <a:ext cx="8967537" cy="475188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-II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AA6B2-9285-0785-8AA0-21DD061A4E2F}"/>
              </a:ext>
            </a:extLst>
          </p:cNvPr>
          <p:cNvSpPr txBox="1"/>
          <p:nvPr/>
        </p:nvSpPr>
        <p:spPr>
          <a:xfrm>
            <a:off x="296985" y="1844380"/>
            <a:ext cx="11728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Deep Learning Models for Marine object Classification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5B09E-3FE9-5CBC-C642-A8482AD16A6B}"/>
              </a:ext>
            </a:extLst>
          </p:cNvPr>
          <p:cNvSpPr txBox="1"/>
          <p:nvPr/>
        </p:nvSpPr>
        <p:spPr>
          <a:xfrm>
            <a:off x="1375508" y="3429000"/>
            <a:ext cx="964541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GUIDE-KUSUMA  J</a:t>
            </a:r>
          </a:p>
          <a:p>
            <a:pPr algn="ctr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PAIDIMARRY SUMANJALI-2022BCSE07AED412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MELAPAKULA NIRAJAN-2022BCSE07AED384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SOMULA MANISH REDDY-2022BCSE07AED542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S ROHINI-2022BCSE07AED521  </a:t>
            </a:r>
          </a:p>
          <a:p>
            <a:pPr algn="ctr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97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C8CFD-050E-1353-8EB2-28B881F91C3E}"/>
              </a:ext>
            </a:extLst>
          </p:cNvPr>
          <p:cNvSpPr txBox="1"/>
          <p:nvPr/>
        </p:nvSpPr>
        <p:spPr>
          <a:xfrm>
            <a:off x="457200" y="249382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447D6-C117-841F-7516-85DA0A101B83}"/>
              </a:ext>
            </a:extLst>
          </p:cNvPr>
          <p:cNvSpPr txBox="1"/>
          <p:nvPr/>
        </p:nvSpPr>
        <p:spPr>
          <a:xfrm>
            <a:off x="592281" y="889844"/>
            <a:ext cx="11357263" cy="5617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accurate and efficient classification of marine objects is vital for marine research, conservation, and environmental monitoring. Traditional manual methods are resource-intensive and unscalable, while many advanced deep learning solutions suffer from high computational demands, hindering real-world deployment. This project presents a novel, web-based application addressing these limitations. It comparably utilizes three lightweight deep learning models—MobileNetV2, EfficientNet-B0, and a custom CNN—to classify images across five marine categories: Dolphin, Fish, Lobster, Octopus, and </a:t>
            </a:r>
            <a:r>
              <a:rPr lang="en-US" sz="22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Sea_horse</a:t>
            </a:r>
            <a:r>
              <a:rPr lang="en-US" sz="2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Our system delivers real-time predictions with confidence levels, offering side-by-side comparative outputs to enhance transparency and interpretability in AI decision-making. By prioritizing computational efficiency and user accessibility through a modern web interface, this work establishes a robust and interpretable tool poised to significantly advance marine monitoring and conservation, even on resource-constrained platforms.</a:t>
            </a:r>
            <a:endParaRPr lang="en-IN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55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CE79D7-A284-64AC-948F-BA0AF426B76C}"/>
              </a:ext>
            </a:extLst>
          </p:cNvPr>
          <p:cNvSpPr txBox="1"/>
          <p:nvPr/>
        </p:nvSpPr>
        <p:spPr>
          <a:xfrm>
            <a:off x="602673" y="405245"/>
            <a:ext cx="5278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38E39B-6F05-7752-8DF3-D574809D1B8F}"/>
              </a:ext>
            </a:extLst>
          </p:cNvPr>
          <p:cNvSpPr txBox="1"/>
          <p:nvPr/>
        </p:nvSpPr>
        <p:spPr>
          <a:xfrm>
            <a:off x="602673" y="928465"/>
            <a:ext cx="10858499" cy="569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Marine organisms are still classified manually, which is time-consuming and not scalable for large image datasets.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deep learning models used for image classification are computationally heavy and require high GPU power and memory.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are difficult to deploy on resource-limited devices such as underwater cameras, drones, and edge systems.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AI systems provide only a single prediction without transparency, making it hard to understand model confidence.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lightweight, efficient, and transparent AI system for marine object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17678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491EDA-E959-6DA3-4485-27B198FE9C19}"/>
              </a:ext>
            </a:extLst>
          </p:cNvPr>
          <p:cNvSpPr txBox="1"/>
          <p:nvPr/>
        </p:nvSpPr>
        <p:spPr>
          <a:xfrm>
            <a:off x="509155" y="509155"/>
            <a:ext cx="43849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2148D5-D61C-5E1C-7295-229D299643C5}"/>
              </a:ext>
            </a:extLst>
          </p:cNvPr>
          <p:cNvSpPr txBox="1"/>
          <p:nvPr/>
        </p:nvSpPr>
        <p:spPr>
          <a:xfrm>
            <a:off x="592281" y="1194955"/>
            <a:ext cx="11409219" cy="510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implement lightweight CNN models (MobileNetV2, EfficientNet-B0, and Custom CNN) for marine object classification.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marine organisms into five categories: Dolphin, Fish, Lobster, Octopus, and Sea Horse.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transfer learning for MobileNetV2 and EfficientNet-B0, and train the Custom CNN from scratch for comparison.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web-based application using Flask, HTML, and CSS for easy image upload and classification.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predictions and confidence scores from all three models for transparent comparison.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efficiency and performance trade-offs in terms of accuracy, speed, and model complexity.</a:t>
            </a:r>
          </a:p>
        </p:txBody>
      </p:sp>
    </p:spTree>
    <p:extLst>
      <p:ext uri="{BB962C8B-B14F-4D97-AF65-F5344CB8AC3E}">
        <p14:creationId xmlns:p14="http://schemas.microsoft.com/office/powerpoint/2010/main" val="1940635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07F718-C837-02CD-AF21-A509EA187A37}"/>
              </a:ext>
            </a:extLst>
          </p:cNvPr>
          <p:cNvSpPr txBox="1"/>
          <p:nvPr/>
        </p:nvSpPr>
        <p:spPr>
          <a:xfrm>
            <a:off x="187036" y="301336"/>
            <a:ext cx="5908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D18C99-FC0B-7889-98DD-A828EB53EC0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1335" y="696349"/>
            <a:ext cx="11533909" cy="5219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marine image dataset containing five classes (Dolphin, Fish, Lobster, Octopus, and Sea Horse) is collected and divided into training, validation, and testing sets.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Images are resized, center-cropped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224 × 224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converted to tensors, and normalized to improve training stability and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CNN-based lightweight models are implemented: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MobileNetV2, EfficientNet-B0, and a Custom CNN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8558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989338-90D9-598C-34ED-371DD55094D8}"/>
              </a:ext>
            </a:extLst>
          </p:cNvPr>
          <p:cNvSpPr txBox="1"/>
          <p:nvPr/>
        </p:nvSpPr>
        <p:spPr>
          <a:xfrm>
            <a:off x="197427" y="114301"/>
            <a:ext cx="11804073" cy="667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weights from ImageNet are used for MobileNetV2 and EfficientNet-B0 to improve feature extraction and reduce training time.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are trained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CrossEntropyLoss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Adam optimizer, and a learning rate scheduler to improve convergence.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measured using classification accuracy, inference time, and parameter size to compare model efficiency.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Deployment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Flask-based web interface is developed where users upload marine images and receive predictions with confidence scores from all models.</a:t>
            </a:r>
          </a:p>
        </p:txBody>
      </p:sp>
    </p:spTree>
    <p:extLst>
      <p:ext uri="{BB962C8B-B14F-4D97-AF65-F5344CB8AC3E}">
        <p14:creationId xmlns:p14="http://schemas.microsoft.com/office/powerpoint/2010/main" val="24447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1684D6-FF56-5F76-9140-8782E6BB0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93" t="31529" r="1074" b="32669"/>
          <a:stretch>
            <a:fillRect/>
          </a:stretch>
        </p:blipFill>
        <p:spPr>
          <a:xfrm>
            <a:off x="115277" y="1352062"/>
            <a:ext cx="11508154" cy="3753932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B952BA3A-39F6-F303-3FFB-8558448C4A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182" y="0"/>
            <a:ext cx="3667818" cy="6783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342697-E62F-D776-2D6B-66E51C5FF21C}"/>
              </a:ext>
            </a:extLst>
          </p:cNvPr>
          <p:cNvSpPr txBox="1"/>
          <p:nvPr/>
        </p:nvSpPr>
        <p:spPr>
          <a:xfrm>
            <a:off x="3759200" y="554892"/>
            <a:ext cx="4978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</a:rPr>
              <a:t>System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917FB2-2638-5EAE-937B-D2AE08C767A8}"/>
              </a:ext>
            </a:extLst>
          </p:cNvPr>
          <p:cNvSpPr txBox="1"/>
          <p:nvPr/>
        </p:nvSpPr>
        <p:spPr>
          <a:xfrm>
            <a:off x="341922" y="5259753"/>
            <a:ext cx="8802077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marine image through web interface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Image processed by three models in parallel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Predictions and confidence scores displayed</a:t>
            </a:r>
          </a:p>
        </p:txBody>
      </p:sp>
    </p:spTree>
    <p:extLst>
      <p:ext uri="{BB962C8B-B14F-4D97-AF65-F5344CB8AC3E}">
        <p14:creationId xmlns:p14="http://schemas.microsoft.com/office/powerpoint/2010/main" val="415463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96A6-43FC-27EF-C8C2-E33A4E0E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877" y="365126"/>
            <a:ext cx="11009923" cy="689952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2060"/>
                </a:solidFill>
              </a:rPr>
              <a:t>Results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38E155-6AFE-6DCB-3D98-687DFE030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139" y="2321169"/>
            <a:ext cx="3400760" cy="2500923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E35861BA-CADE-3C21-272F-D3AD1376A9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337" y="65151"/>
            <a:ext cx="4071420" cy="7529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B6B9D-29FF-56B5-CFE8-2D82D424FD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54" r="4067"/>
          <a:stretch>
            <a:fillRect/>
          </a:stretch>
        </p:blipFill>
        <p:spPr>
          <a:xfrm>
            <a:off x="3641969" y="1504461"/>
            <a:ext cx="8446828" cy="3950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E6DC92-0469-D3BE-ACC8-3D4D940CF809}"/>
              </a:ext>
            </a:extLst>
          </p:cNvPr>
          <p:cNvSpPr txBox="1"/>
          <p:nvPr/>
        </p:nvSpPr>
        <p:spPr>
          <a:xfrm>
            <a:off x="3529899" y="5517662"/>
            <a:ext cx="2800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</a:t>
            </a:r>
            <a:r>
              <a:rPr lang="en-US" sz="2400" dirty="0"/>
              <a:t>MobileNetV2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B4F763-A5EC-859B-1FB2-11DC31318359}"/>
              </a:ext>
            </a:extLst>
          </p:cNvPr>
          <p:cNvSpPr txBox="1"/>
          <p:nvPr/>
        </p:nvSpPr>
        <p:spPr>
          <a:xfrm>
            <a:off x="6267939" y="5517662"/>
            <a:ext cx="2899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sz="2400" dirty="0"/>
              <a:t>EfficientNet-B0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EAB984-7DB8-EFCF-9F59-C2201E650DBA}"/>
              </a:ext>
            </a:extLst>
          </p:cNvPr>
          <p:cNvSpPr txBox="1"/>
          <p:nvPr/>
        </p:nvSpPr>
        <p:spPr>
          <a:xfrm>
            <a:off x="9745785" y="5517662"/>
            <a:ext cx="2180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Custom CNN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81414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2522-4564-3B33-2238-CEEA3E0C8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54" y="482539"/>
            <a:ext cx="10515600" cy="734769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Comparison results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C8291E67-8177-62CB-DB66-9F515C8B96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685" y="65151"/>
            <a:ext cx="3330072" cy="6158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26BD1E-09DD-7737-8D13-4750FEC1A2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8" t="25723" r="50766" b="28240"/>
          <a:stretch>
            <a:fillRect/>
          </a:stretch>
        </p:blipFill>
        <p:spPr>
          <a:xfrm>
            <a:off x="173892" y="2247963"/>
            <a:ext cx="4547748" cy="27395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699DF9-DB00-F9AE-C0A1-1293BB22E3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4" t="13424" r="4067"/>
          <a:stretch>
            <a:fillRect/>
          </a:stretch>
        </p:blipFill>
        <p:spPr>
          <a:xfrm>
            <a:off x="5160620" y="2247962"/>
            <a:ext cx="6765657" cy="2739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CE5C5C-86E9-72E9-2305-15D4777B0A6C}"/>
              </a:ext>
            </a:extLst>
          </p:cNvPr>
          <p:cNvSpPr txBox="1"/>
          <p:nvPr/>
        </p:nvSpPr>
        <p:spPr>
          <a:xfrm>
            <a:off x="1336431" y="1516185"/>
            <a:ext cx="2657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B49E8E-C658-3DC7-B170-CB2750FBACB6}"/>
              </a:ext>
            </a:extLst>
          </p:cNvPr>
          <p:cNvSpPr txBox="1"/>
          <p:nvPr/>
        </p:nvSpPr>
        <p:spPr>
          <a:xfrm>
            <a:off x="7010399" y="1516185"/>
            <a:ext cx="295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</p:txBody>
      </p:sp>
    </p:spTree>
    <p:extLst>
      <p:ext uri="{BB962C8B-B14F-4D97-AF65-F5344CB8AC3E}">
        <p14:creationId xmlns:p14="http://schemas.microsoft.com/office/powerpoint/2010/main" val="337054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754D-8415-1C29-105C-57EF8578A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6" y="164991"/>
            <a:ext cx="10515600" cy="752997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Results-Graph 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5F4CA32-C1E5-77C2-16BA-B675E8FBB8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5BCB7E-ACD0-941B-BFF3-FEBCDF3E0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493" y="1008202"/>
            <a:ext cx="8499797" cy="504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59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A02D6B-1507-B512-0E8C-3B79E7535B19}"/>
              </a:ext>
            </a:extLst>
          </p:cNvPr>
          <p:cNvSpPr txBox="1"/>
          <p:nvPr/>
        </p:nvSpPr>
        <p:spPr>
          <a:xfrm>
            <a:off x="280555" y="238991"/>
            <a:ext cx="6141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2B7AEE-EB96-5B78-8740-BA63060F2F4C}"/>
              </a:ext>
            </a:extLst>
          </p:cNvPr>
          <p:cNvSpPr txBox="1"/>
          <p:nvPr/>
        </p:nvSpPr>
        <p:spPr>
          <a:xfrm>
            <a:off x="613064" y="997527"/>
            <a:ext cx="8528338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Library: OpenCV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Framework: Flask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Technologies: HTML, CSS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Library: Pillow (PIL)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Computing: NumPy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Visual Studio Code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 and GitHub</a:t>
            </a:r>
          </a:p>
        </p:txBody>
      </p:sp>
    </p:spTree>
    <p:extLst>
      <p:ext uri="{BB962C8B-B14F-4D97-AF65-F5344CB8AC3E}">
        <p14:creationId xmlns:p14="http://schemas.microsoft.com/office/powerpoint/2010/main" val="2771299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B43BD6-E56E-3DFD-9A89-FD47B89F681E}"/>
              </a:ext>
            </a:extLst>
          </p:cNvPr>
          <p:cNvSpPr txBox="1"/>
          <p:nvPr/>
        </p:nvSpPr>
        <p:spPr>
          <a:xfrm>
            <a:off x="353291" y="363682"/>
            <a:ext cx="11492346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i5 / AMD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or higher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8 GB (16 GB recommended)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(Optional for training):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NVIDIA GPU with CUDA support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least 20–30 GB free space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 for dataset download and dependencies</a:t>
            </a:r>
          </a:p>
          <a:p>
            <a:pPr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/ Linux / macOS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Version: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3.8 or higher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Required: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Torchvision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Flask, OpenCV, NumPy, Pillow</a:t>
            </a:r>
          </a:p>
          <a:p>
            <a:pPr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Chrome / Firefox / Edge (for running the web application)</a:t>
            </a:r>
          </a:p>
        </p:txBody>
      </p:sp>
    </p:spTree>
    <p:extLst>
      <p:ext uri="{BB962C8B-B14F-4D97-AF65-F5344CB8AC3E}">
        <p14:creationId xmlns:p14="http://schemas.microsoft.com/office/powerpoint/2010/main" val="3247567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D748A-03D0-BE0E-B246-5586A25F8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63" y="365125"/>
            <a:ext cx="11177337" cy="1325563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7254-9E34-3CC1-D846-200671EDE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38" y="1430215"/>
            <a:ext cx="11513398" cy="47467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web-based marine classification system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and compared three lightweight CNN models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effectiveness of transfer learning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accuracy–efficiency trade-offs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transparency through confidence-based predictions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marine research and conservation efforts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0A605BCA-1BDC-5AEF-25F5-74A0D0E0FB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40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E5CF-ACEF-A987-C071-B71C062D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002060"/>
                </a:solidFill>
              </a:rPr>
              <a:t>Github</a:t>
            </a:r>
            <a:r>
              <a:rPr lang="en-GB" dirty="0">
                <a:solidFill>
                  <a:srgbClr val="002060"/>
                </a:solidFill>
              </a:rPr>
              <a:t> Repository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28A85-4F5D-AB8D-4570-48F86A89E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6477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https://github.com/Paidimarrysumanjali/lightweight-deep-learning-models-for-marine-object-classification</a:t>
            </a:r>
            <a:endParaRPr lang="en-GB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4F03576-D534-F99E-D210-C41AA757CD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86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AA22-A7E8-21E9-FA81-0A439F0AC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Status of the Paper (Outcome-publication)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FF7C4-8276-1DB1-8CF7-4ECD5F04B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is currently in the final stage of preparation and will be submitted to a conference shortly.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7CDF19B-7E44-F30C-5DEC-A2571020E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77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F3A3-F0DC-8130-306E-26C38AF18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23" y="365126"/>
            <a:ext cx="11088077" cy="462648"/>
          </a:xfrm>
        </p:spPr>
        <p:txBody>
          <a:bodyPr>
            <a:normAutofit fontScale="90000"/>
          </a:bodyPr>
          <a:lstStyle/>
          <a:p>
            <a:r>
              <a:rPr lang="en-GB" dirty="0"/>
              <a:t>Guide Approval Mail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3C5917-5AAD-54FE-B642-0EE68AF12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798" y="930724"/>
            <a:ext cx="7274139" cy="5403646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D281B7C9-1F7B-0989-3B8A-D768E747AF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75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D7AD-66CA-2C03-BF60-356430AC5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46" y="74777"/>
            <a:ext cx="10515600" cy="894331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2A701-B0C0-7815-3D55-96348D0DA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661" y="969107"/>
            <a:ext cx="11488615" cy="5814115"/>
          </a:xfrm>
        </p:spPr>
        <p:txBody>
          <a:bodyPr>
            <a:normAutofit fontScale="62500" lnSpcReduction="20000"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Han, F., Yao, J., Zhu, H., &amp; Wang, C. (2020). Marine organism detection and classification from underwater vision based on the deep CNN method.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Problems in Engineering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Mukri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U., &amp; Joshi, B. (2023). Marine debris detection and classification using deep learning techniques.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Information Science and Engineering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Pokharkar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Deshmukh, N., &amp; Biradar, M. (2024). Fish species detection using deep learning.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for Research in Applied Science and Engineering Technology (IJRASET)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Ashabr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Halder Mallick, P., Gupta, S. K., &amp; Saha, S. K. (2023). Lightweight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DeepSeagrass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 for classifying seagrass from underwater images.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 and Assessment, Springer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Gupta, M., &amp; Kumar, A. (2021). Edge AI for real-time classification of marine life using YOLO-Tiny.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 Engineering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S., Wang, L., &amp; Zhao, T. (2022). Lightweight convolutional neural networks for real-time marine debris detection.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J., Zhang, T., Zhao, S., Zhang, L., &amp; Zhou, Y. (2024). An underwater organism image dataset and a lightweight module designed for object detection networks.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Transactions on Multimedia Computing, Communications and Applications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B., Jiang, P., &amp; Gao, J. (2023). A lightweight few-shot marine object detection network for unmanned surface vehicles.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 Engineering, 277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114329.</a:t>
            </a:r>
          </a:p>
          <a:p>
            <a:endParaRPr lang="en-GB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26DBC5D7-A325-68E9-6CCF-11E654A089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88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2FEF9-4344-C964-6014-5FCFED34D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3768" y="2996057"/>
            <a:ext cx="7857744" cy="24263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5600" dirty="0">
                <a:solidFill>
                  <a:srgbClr val="002060"/>
                </a:solidFill>
              </a:rPr>
              <a:t>Thank You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9E7DE7E4-12B8-42AA-DF11-1CD1F79861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  <p:pic>
        <p:nvPicPr>
          <p:cNvPr id="2" name="Content Placeholder 4" descr="A desk with a keyboard and notepads">
            <a:extLst>
              <a:ext uri="{FF2B5EF4-FFF2-40B4-BE49-F238E27FC236}">
                <a16:creationId xmlns:a16="http://schemas.microsoft.com/office/drawing/2014/main" id="{4830182D-4972-87C5-117B-0D5DB502E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1" y="4367"/>
            <a:ext cx="12027877" cy="67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291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1127</Words>
  <Application>Microsoft Office PowerPoint</Application>
  <PresentationFormat>Widescreen</PresentationFormat>
  <Paragraphs>95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Times New Roman</vt:lpstr>
      <vt:lpstr>Office Theme</vt:lpstr>
      <vt:lpstr>CAPSTONE PROJECT -II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</vt:lpstr>
      <vt:lpstr>Comparison results</vt:lpstr>
      <vt:lpstr>Results-Graph </vt:lpstr>
      <vt:lpstr>PowerPoint Presentation</vt:lpstr>
      <vt:lpstr>PowerPoint Presentation</vt:lpstr>
      <vt:lpstr>Conclusion</vt:lpstr>
      <vt:lpstr>Github Repository link</vt:lpstr>
      <vt:lpstr>Status of the Paper (Outcome-publication) </vt:lpstr>
      <vt:lpstr>Guide Approval Mail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– Phase II Review 1 Date Project Title Team Details Guided by</dc:title>
  <dc:creator>K Madheswari</dc:creator>
  <cp:lastModifiedBy>suma anjali</cp:lastModifiedBy>
  <cp:revision>23</cp:revision>
  <dcterms:created xsi:type="dcterms:W3CDTF">2026-02-09T10:01:01Z</dcterms:created>
  <dcterms:modified xsi:type="dcterms:W3CDTF">2026-03-04T07:53:23Z</dcterms:modified>
</cp:coreProperties>
</file>